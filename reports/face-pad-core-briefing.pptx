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6d633e614143cc" /><Relationship Type="http://schemas.openxmlformats.org/officeDocument/2006/relationships/extended-properties" Target="/docProps/app.xml" Id="Rc0ba854c55b74689" /><Relationship Type="http://schemas.openxmlformats.org/officeDocument/2006/relationships/officeDocument" Target="/ppt/presentation.xml" Id="R5f38dd2706734f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edf11c5b924a83"/>
  </p:sldMasterIdLst>
  <p:notesMasterIdLst>
    <p:notesMasterId xmlns:r="http://schemas.openxmlformats.org/officeDocument/2006/relationships" r:id="R6dc8cdfd8d0e4328"/>
  </p:notesMasterIdLst>
  <p:sldIdLst>
    <p:sldId xmlns:r="http://schemas.openxmlformats.org/officeDocument/2006/relationships" id="256" r:id="R33cad1c5bebf492b"/>
    <p:sldId xmlns:r="http://schemas.openxmlformats.org/officeDocument/2006/relationships" id="257" r:id="R6b1ac316e5274bad"/>
    <p:sldId xmlns:r="http://schemas.openxmlformats.org/officeDocument/2006/relationships" id="258" r:id="Rdfdac63ddd0b49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e6cb16c48744dd" /><Relationship Type="http://schemas.openxmlformats.org/officeDocument/2006/relationships/slideMaster" Target="/ppt/slideMasters/slideMaster1.xml" Id="R7bedf11c5b924a83" /><Relationship Type="http://schemas.openxmlformats.org/officeDocument/2006/relationships/notesMaster" Target="/ppt/notesMasters/notesMaster1.xml" Id="R6dc8cdfd8d0e4328" /><Relationship Type="http://schemas.openxmlformats.org/officeDocument/2006/relationships/presProps" Target="/ppt/presProps.xml" Id="R3132db03f58842d1" /><Relationship Type="http://schemas.openxmlformats.org/officeDocument/2006/relationships/tableStyles" Target="/ppt/tableStyles.xml" Id="R64307cc95d164393" /><Relationship Type="http://schemas.openxmlformats.org/officeDocument/2006/relationships/slide" Target="/ppt/slides/slide1.xml" Id="R33cad1c5bebf492b" /><Relationship Type="http://schemas.openxmlformats.org/officeDocument/2006/relationships/slide" Target="/ppt/slides/slide2.xml" Id="R6b1ac316e5274bad" /><Relationship Type="http://schemas.openxmlformats.org/officeDocument/2006/relationships/slide" Target="/ppt/slides/slide3.xml" Id="Rdfdac63ddd0b49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7cd847363a49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efd2b4971749bc" /><Relationship Type="http://schemas.openxmlformats.org/officeDocument/2006/relationships/notesMaster" Target="/ppt/notesMasters/notesMaster1.xml" Id="R4d89d0bd880142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250bfc608c4801" /><Relationship Type="http://schemas.openxmlformats.org/officeDocument/2006/relationships/notesMaster" Target="/ppt/notesMasters/notesMaster1.xml" Id="Raeaeb7f29f4548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0481d05a814a8b" /><Relationship Type="http://schemas.openxmlformats.org/officeDocument/2006/relationships/notesMaster" Target="/ppt/notesMasters/notesMaster1.xml" Id="Rc0ae08d4f33c47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CDCN: https://openaccess.thecvf.com/content_CVPR_2020/html/Yu_Searching_Central_Difference_Convolutional_Networks_for_Face_Anti-Spoofing_CVPR_2020_paper.html</a:t>
            </a:r>
          </a:p>
          <a:p xmlns:a="http://schemas.openxmlformats.org/drawingml/2006/main">
            <a:r>
              <a:t>UCDCN: https://link.springer.com/article/10.1007/s40747-024-01397-0</a:t>
            </a:r>
          </a:p>
          <a:p xmlns:a="http://schemas.openxmlformats.org/drawingml/2006/main">
            <a:r>
              <a:t>CASO-PAD: https://www.nature.com/articles/s41598-026-67944-6</a:t>
            </a:r>
          </a:p>
          <a:p xmlns:a="http://schemas.openxmlformats.org/drawingml/2006/main">
            <a:r>
              <a:t>Nội dung phạm vi: DAC_TA_HE_THONG_NHAN_DIEN_KHUON_MAT_PAD_DEPTH_MAP.md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kiến trúc và ma trận thí nghiệm: DAC_TA_HE_THONG_NHAN_DIEN_KHUON_MAT_PAD_DEPTH_MAP.md.</a:t>
            </a:r>
          </a:p>
          <a:p xmlns:a="http://schemas.openxmlformats.org/drawingml/2006/main">
            <a:r>
              <a:t>CDCN: https://openaccess.thecvf.com/content_CVPR_2020/html/Yu_Searching_Central_Difference_Convolutional_Networks_for_Face_Anti-Spoofing_CVPR_2020_paper.html</a:t>
            </a:r>
          </a:p>
          <a:p xmlns:a="http://schemas.openxmlformats.org/drawingml/2006/main">
            <a:r>
              <a:t>UCDCN motivation for classification and staged training: https://link.springer.com/article/10.1007/s40747-024-01397-0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</a:t>
            </a:r>
          </a:p>
          <a:p xmlns:a="http://schemas.openxmlformats.org/drawingml/2006/main">
            <a:r>
              <a:t>Quy tắc metric và threshold: DAC_TA_HE_THONG_NHAN_DIEN_KHUON_MAT_PAD_DEPTH_MAP.md, mục 9.</a:t>
            </a:r>
          </a:p>
          <a:p xmlns:a="http://schemas.openxmlformats.org/drawingml/2006/main">
            <a:r>
              <a:t>CDCN: https://openaccess.thecvf.com/content_CVPR_2020/html/Yu_Searching_Central_Difference_Convolutional_Networks_for_Face_Anti-Spoofing_CVPR_2020_paper.html</a:t>
            </a:r>
          </a:p>
          <a:p xmlns:a="http://schemas.openxmlformats.org/drawingml/2006/main">
            <a:r>
              <a:t>UCDCN: https://link.springer.com/article/10.1007/s40747-024-01397-0</a:t>
            </a:r>
          </a:p>
          <a:p xmlns:a="http://schemas.openxmlformats.org/drawingml/2006/main">
            <a:r>
              <a:t>CASO-PAD: https://www.nature.com/articles/s41598-026-67944-6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f39d5b1484d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984b8854b2499c" /><Relationship Type="http://schemas.openxmlformats.org/officeDocument/2006/relationships/slideLayout" Target="/ppt/slideLayouts/slideLayout1.xml" Id="R07bca14de80b4d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bca14de80b4d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670cacd5543dc" /><Relationship Type="http://schemas.openxmlformats.org/officeDocument/2006/relationships/notesSlide" Target="/ppt/notesSlides/notesSlide1.xml" Id="R06cd7ac5cb544f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e0e7b88424f26" /><Relationship Type="http://schemas.openxmlformats.org/officeDocument/2006/relationships/notesSlide" Target="/ppt/notesSlides/notesSlide2.xml" Id="R08fc2fbffa4044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bf4c328714163" /><Relationship Type="http://schemas.openxmlformats.org/officeDocument/2006/relationships/notesSlide" Target="/ppt/notesSlides/notesSlide3.xml" Id="R6aa92b4b1f634c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99988-AA78-4969-B1AD-E0935D38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2D3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3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F5E04-DCC3-4029-9F16-257B4345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Các hướng hiện đại cho Face PAD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2ADFB-D9D2-4C3F-BB1C-86AE1C06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8B6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6C9"/>
                </a:solidFill>
                <a:latin typeface="Arial"/>
                <a:ea typeface="Arial"/>
                <a:cs typeface="Arial"/>
              </a:rPr>
              <a:t>Bốn họ phương pháp, một phạm vi phù hợp với nhóm hai người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96CE1-7602-4F52-A519-032D7929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2BD6F-1636-47E1-816A-F82D952D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457450" cy="31432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19050">
            <a:solidFill>
              <a:srgbClr val="72B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1CDD7-EFCE-48B2-A2AB-9C03CFF2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2CA51-79C8-450C-8D67-81A15A37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BBC7D-03C6-4346-B2FF-13253EFA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72B7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2B7FF"/>
                </a:solidFill>
                <a:latin typeface="Arial"/>
                <a:ea typeface="Arial"/>
                <a:cs typeface="Arial"/>
              </a:rPr>
              <a:t>Phân loại nhẹ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A73AA-06DF-433F-A852-4094A757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MobileNetV3 cho baseline nhanh.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Rủi ro chính: học shortcut từ camera, nền hoặc nén ảnh.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C737B-F5FC-4184-A3E6-0489E055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457450" cy="31432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19050">
            <a:solidFill>
              <a:srgbClr val="42D3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657B1-AA5C-4055-92C6-9F7DA6FB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3C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DACB1-79A0-41FC-B688-E0D015A3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716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CC6CE-A80F-4B15-9E7C-6F400D1C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431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2D3C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D3C2"/>
                </a:solidFill>
                <a:latin typeface="Arial"/>
                <a:ea typeface="Arial"/>
                <a:cs typeface="Arial"/>
              </a:rPr>
              <a:t>Depth supervision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936A7-B85E-4F13-A3E2-8AD9829C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48025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CDCN dự đoán pseudo depth và nhấn mạnh gradient cục bộ.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Điểm chuẩn: mean depth.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AFEF4-B091-4CED-9DFC-EF165181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2457450" cy="31432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19050">
            <a:solidFill>
              <a:srgbClr val="FFAE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0932D-D05C-4F0E-A821-CE34D67F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E5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85F36-7701-4056-9363-D5254B6F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716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E2–4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CE20F-EAE0-4D14-ABFE-B3917347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AE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AE57"/>
                </a:solidFill>
                <a:latin typeface="Arial"/>
                <a:ea typeface="Arial"/>
                <a:cs typeface="Arial"/>
              </a:rPr>
              <a:t>Multi-task depth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F4867-2AD1-4F80-AC8A-F58D58C5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48025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Depth regression kết hợp classifier và staged training.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Đây là khoảng trống thí nghiệm chính.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1C44C-40C1-4A79-A96E-F2BC25FB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457450" cy="31432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19050">
            <a:solidFill>
              <a:srgbClr val="FF7D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49D30-AD34-4A9D-B32B-79F8E3AF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47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D7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6F351-389C-4B06-9F8F-1BC8B974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716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05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Bối cảnh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7D19E3-E98A-4AEF-B453-A17363DC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431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7D7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7D77"/>
                </a:solidFill>
                <a:latin typeface="Arial"/>
                <a:ea typeface="Arial"/>
                <a:cs typeface="Arial"/>
              </a:rPr>
              <a:t>Mô hình lớn và temporal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CEB09-C6D4-4DE5-A0BC-BF22A6F0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48025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Transformer, rPPG và domain generalization có giá trị nghiên cứu nhưng vượt ngân sách lõi.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7C41B5-99FC-4742-9943-FD46491D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81600"/>
            <a:ext cx="8115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3B3B"/>
          </a:solidFill>
          <a:ln xmlns:a="http://schemas.openxmlformats.org/drawingml/2006/main" w="14288">
            <a:solidFill>
              <a:srgbClr val="42D3C2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Phạm vi đã chọn  •  CDCN + classifier rất nhẹ trên predicted depth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3AA58E-F985-46B9-817E-D60EBC2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962650"/>
            <a:ext cx="727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A8B6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6C9"/>
                </a:solidFill>
                <a:latin typeface="Arial"/>
                <a:ea typeface="Arial"/>
                <a:cs typeface="Arial"/>
              </a:rPr>
              <a:t>Mục tiêu: giảm ACER so với mean-depth scoring mà không tăng đáng kể chi phí suy luận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0B612-6964-4AB5-8C93-84E3B2BE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A8B6C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8B6C9"/>
                </a:solidFill>
                <a:latin typeface="Arial"/>
                <a:ea typeface="Arial"/>
                <a:cs typeface="Arial"/>
              </a:rPr>
              <a:t>Nguồn: CDCN (CVPR 2020), UCDCN (2024), CASO-PAD (2026), đặc tả nghiên cứu nội bộ</a:t>
            </a:r>
          </a:p>
        </p:txBody>
      </p:sp>
    </p:spTree>
    <p:extLst>
      <p:ext uri="{BB962C8B-B14F-4D97-AF65-F5344CB8AC3E}">
        <p14:creationId xmlns:p14="http://schemas.microsoft.com/office/powerpoint/2010/main" val="926183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895E2-EC03-449D-AE59-29DFC431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2D3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3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F4B3A-FB5F-4163-89E1-499A98E1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CDCN MT 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47445-091C-415D-A2B3-7378C695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8B6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6C9"/>
                </a:solidFill>
                <a:latin typeface="Arial"/>
                <a:ea typeface="Arial"/>
                <a:cs typeface="Arial"/>
              </a:rPr>
              <a:t>Classifier chỉ đọc predicted depth để giữ thí nghiệm dễ diễn giải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6578C-A05A-4F38-AB20-9C910466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EA242-D1FC-4D7F-9073-D9F0D7B6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5811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4223B"/>
          </a:solidFill>
          <a:ln xmlns:a="http://schemas.openxmlformats.org/drawingml/2006/main" w="14288">
            <a:solidFill>
              <a:srgbClr val="72B7FF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906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RGB face crop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256 × 256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D37BC-C780-405F-8F86-1131F96B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14550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4223B"/>
          </a:solidFill>
          <a:ln xmlns:a="http://schemas.openxmlformats.org/drawingml/2006/main" w="14288">
            <a:solidFill>
              <a:srgbClr val="42D3C2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Compact CDCN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θ = 0.7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2E54C-D8C1-4B62-9F71-099977CC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14550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23B3B"/>
          </a:solidFill>
          <a:ln xmlns:a="http://schemas.openxmlformats.org/drawingml/2006/main" w="14288">
            <a:solidFill>
              <a:srgbClr val="42D3C2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Predicted depth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1 × 32 ×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BDC9F-967A-46B0-96B7-B8E9041A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71625"/>
            <a:ext cx="1619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243B"/>
          </a:solidFill>
          <a:ln xmlns:a="http://schemas.openxmlformats.org/drawingml/2006/main" w="14288">
            <a:solidFill>
              <a:srgbClr val="72B7FF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Mean depth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78C77-71DE-4E47-B0DB-FD46AA39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81325"/>
            <a:ext cx="1619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2A18"/>
          </a:solidFill>
          <a:ln xmlns:a="http://schemas.openxmlformats.org/drawingml/2006/main" w="14288">
            <a:solidFill>
              <a:srgbClr val="FFAE57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Conv 1→8→16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GAP + Linear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E87AC-97A1-44A0-A340-05AD523F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695450"/>
            <a:ext cx="1028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3263D"/>
          </a:solidFill>
          <a:ln xmlns:a="http://schemas.openxmlformats.org/drawingml/2006/main" w="14288">
            <a:solidFill>
              <a:srgbClr val="72B7FF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72B7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2B7FF"/>
                </a:solidFill>
                <a:latin typeface="Arial"/>
                <a:ea typeface="Arial"/>
                <a:cs typeface="Arial"/>
              </a:rPr>
              <a:t>E1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5D2DD-8BD3-4006-963D-20620CDC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81350"/>
            <a:ext cx="1028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3A2A18"/>
          </a:solidFill>
          <a:ln xmlns:a="http://schemas.openxmlformats.org/drawingml/2006/main" w="14288">
            <a:solidFill>
              <a:srgbClr val="FFAE57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AE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AE57"/>
                </a:solidFill>
                <a:latin typeface="Arial"/>
                <a:ea typeface="Arial"/>
                <a:cs typeface="Arial"/>
              </a:rPr>
              <a:t>E2–E4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33600" y="27146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8B6C9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76775" y="271462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8B6C9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267575" y="2009775"/>
            <a:ext cx="771525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A8B6C9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67575" y="2714625"/>
            <a:ext cx="771525" cy="781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A8B6C9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658350" y="20097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8B6C9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58350" y="34956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8B6C9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ADC86-F978-4F52-9C7F-570E13B1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42D3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3C2"/>
                </a:solidFill>
                <a:latin typeface="Arial"/>
                <a:ea typeface="Arial"/>
                <a:cs typeface="Arial"/>
              </a:rPr>
              <a:t>Depth loss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4711B-87DD-4B34-A4D0-2118BAD7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5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AE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AE57"/>
                </a:solidFill>
                <a:latin typeface="Arial"/>
                <a:ea typeface="Arial"/>
                <a:cs typeface="Arial"/>
              </a:rPr>
              <a:t>Classification loss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3DC73-271D-4077-9530-91B43FC8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Ma trận kiểm soát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5C8A1-1922-446F-A026-59AF821E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243B"/>
          </a:solidFill>
          <a:ln xmlns:a="http://schemas.openxmlformats.org/drawingml/2006/main" w="14288">
            <a:solidFill>
              <a:srgbClr val="2A3B55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Freeze CDCN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BCE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5EC44-BF28-4F80-8A9E-DE66D4F0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0540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243B"/>
          </a:solidFill>
          <a:ln xmlns:a="http://schemas.openxmlformats.org/drawingml/2006/main" w="14288">
            <a:solidFill>
              <a:srgbClr val="2A3B55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End-to-end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BCE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6E97D-3884-413C-A78E-36B12F9C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105400"/>
            <a:ext cx="2381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A2A18"/>
          </a:solidFill>
          <a:ln xmlns:a="http://schemas.openxmlformats.org/drawingml/2006/main" w="14288">
            <a:solidFill>
              <a:srgbClr val="FFAE57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Depth → Head → Joint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Focal Loss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E6395-D196-4341-B689-8B24256F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8577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42D3C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D3C2"/>
                </a:solidFill>
                <a:latin typeface="Arial"/>
                <a:ea typeface="Arial"/>
                <a:cs typeface="Arial"/>
              </a:rPr>
              <a:t>Total = Depth + λ × Classification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6D90F-6A5E-4136-A86D-B139CDE9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33400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Giả thuyết chính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Learned head tận dụng cấu trúc không gian mà mean depth bỏ qua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FA6CF0-675D-4E8A-A1C7-3D8DDD27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A8B6C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8B6C9"/>
                </a:solidFill>
                <a:latin typeface="Arial"/>
                <a:ea typeface="Arial"/>
                <a:cs typeface="Arial"/>
              </a:rPr>
              <a:t>Biến chính: scoring head  •  Ablation: chiến lược huấn luyện và BCE/Focal</a:t>
            </a:r>
          </a:p>
        </p:txBody>
      </p:sp>
    </p:spTree>
    <p:extLst>
      <p:ext uri="{BB962C8B-B14F-4D97-AF65-F5344CB8AC3E}">
        <p14:creationId xmlns:p14="http://schemas.microsoft.com/office/powerpoint/2010/main" val="1488655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F95E1-5A66-436D-8527-21AF94D7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2D3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3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11E09-942A-47F9-9DD2-FFACC850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So sánh nghiên cứu và tiêu chí đánh giá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DAE04-52BB-4D93-A276-54051674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8B6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B6C9"/>
                </a:solidFill>
                <a:latin typeface="Arial"/>
                <a:ea typeface="Arial"/>
                <a:cs typeface="Arial"/>
              </a:rPr>
              <a:t>So sánh trực tiếp chỉ khi dataset, protocol và cách chọn threshold tương thích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6F677-743D-4F0A-8D20-0FDF9849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B55"/>
            </a:solidFill>
            <a:prstDash val="solid"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95300" y="1495425"/>
          <a:ext xmlns:a="http://schemas.openxmlformats.org/drawingml/2006/main" cx="112014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952750"/>
                <a:gridCol w="3619500"/>
                <a:gridCol w="2724150"/>
              </a:tblGrid>
              <a:tr h="5810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Nghiên cứu</a:t>
                      </a:r>
                    </a:p>
                  </a:txBody>
                  <a:tcPr marL="95250" marR="95250" marT="76200" marB="76200" anchor="ctr">
                    <a:solidFill>
                      <a:srgbClr val="123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5250" marR="95250" marT="76200" marB="76200" anchor="ctr">
                    <a:solidFill>
                      <a:srgbClr val="123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Điều kiện so sánh</a:t>
                      </a:r>
                    </a:p>
                  </a:txBody>
                  <a:tcPr marL="95250" marR="95250" marT="76200" marB="76200" anchor="ctr">
                    <a:solidFill>
                      <a:srgbClr val="123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Ghi chú</a:t>
                      </a:r>
                    </a:p>
                  </a:txBody>
                  <a:tcPr marL="95250" marR="95250" marT="76200" marB="76200" anchor="ctr">
                    <a:solidFill>
                      <a:srgbClr val="123B3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CDCN · 2020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Depth baseline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Direct khi cùng OULU-NPU protocol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Mean-depth scoring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UCDCN · 2024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Gần nhất về cơ chế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Direct khi preprocessing và split khớp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Classifier + staged training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AE57"/>
                          </a:solidFill>
                          <a:latin typeface="Arial"/>
                          <a:ea typeface="Arial"/>
                          <a:cs typeface="Arial"/>
                        </a:rPr>
                        <a:t>CASO-PAD · 2026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Bối cảnh mô hình nhẹ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Contextual nếu protocol khác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MobileNetV3 + grouped involution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42D3C2"/>
                          </a:solidFill>
                          <a:latin typeface="Arial"/>
                          <a:ea typeface="Arial"/>
                          <a:cs typeface="Arial"/>
                        </a:rPr>
                        <a:t>Nhóm · E0–E4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Controlled study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Cùng manifest, sampling và evaluator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F3F7FC"/>
                          </a:solidFill>
                          <a:latin typeface="Arial"/>
                          <a:ea typeface="Arial"/>
                          <a:cs typeface="Arial"/>
                        </a:rPr>
                        <a:t>Kết luận từ nhiều seed</a:t>
                      </a:r>
                    </a:p>
                  </a:txBody>
                  <a:tcPr marL="95250" marR="95250" marT="66675" marB="66675" anchor="ctr">
                    <a:solidFill>
                      <a:srgbClr val="111C3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01F83-1828-4385-A45F-A16291F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958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Metric ở mức video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9B718-B0A0-4FBD-9647-80DF847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05400"/>
            <a:ext cx="1981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3A1F23"/>
          </a:solidFill>
          <a:ln xmlns:a="http://schemas.openxmlformats.org/drawingml/2006/main" w="14288">
            <a:solidFill>
              <a:srgbClr val="FF7D77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925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APCER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Attack được chấp nhận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79F2A-0933-4707-B3F4-66105A38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1981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3A2A18"/>
          </a:solidFill>
          <a:ln xmlns:a="http://schemas.openxmlformats.org/drawingml/2006/main" w="14288">
            <a:solidFill>
              <a:srgbClr val="FFAE57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BPCER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Bona fide bị từ chối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9556E-DA62-41AB-8574-79EAB2B2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05400"/>
            <a:ext cx="1981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3B3B"/>
          </a:solidFill>
          <a:ln xmlns:a="http://schemas.openxmlformats.org/drawingml/2006/main" w="14288">
            <a:solidFill>
              <a:srgbClr val="42D3C2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ACER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(APCER + BPCER) /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12561-4B8F-4816-B4BE-E5B4263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05400"/>
            <a:ext cx="1981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5243B"/>
          </a:solidFill>
          <a:ln xmlns:a="http://schemas.openxmlformats.org/drawingml/2006/main" w="14288">
            <a:solidFill>
              <a:srgbClr val="72B7FF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925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EER + ROC AUC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Khả năng phân tách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CC4B9-04C6-4429-AA64-D1D7602A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72050"/>
            <a:ext cx="25908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B2942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Threshold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Chọn trên validation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Test một lần sau khi khóa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1C7FA-C884-4254-982D-D4AE38B1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A8B6C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8B6C9"/>
                </a:solidFill>
                <a:latin typeface="Arial"/>
                <a:ea typeface="Arial"/>
                <a:cs typeface="Arial"/>
              </a:rPr>
              <a:t>Không dùng test split để chọn model, epoch, augmentation hoặc threshold</a:t>
            </a:r>
          </a:p>
        </p:txBody>
      </p:sp>
    </p:spTree>
    <p:extLst>
      <p:ext uri="{BB962C8B-B14F-4D97-AF65-F5344CB8AC3E}">
        <p14:creationId xmlns:p14="http://schemas.microsoft.com/office/powerpoint/2010/main" val="1681458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2026-09-19T16:09:25.1150000Z</dcterms:created>
  <dcterms:modified xsi:type="dcterms:W3CDTF">2026-09-19T16:09:25.1150000Z</dcterms:modified>
</coreProperties>
</file>